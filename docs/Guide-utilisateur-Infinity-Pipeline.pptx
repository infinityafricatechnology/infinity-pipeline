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bae32b9-36f0-0317-1d41-d2095edcf4d8}">
          <p14:sldIdLst>
            <p14:sldId id="256"/>
          </p14:sldIdLst>
        </p14:section>
        <p14:section name="Prise en main" id="{c6aa2ae4-8bf2-f506-c7b4-8faf7fc3b6e5}">
          <p14:sldIdLst>
            <p14:sldId id="257"/>
            <p14:sldId id="258"/>
            <p14:sldId id="259"/>
          </p14:sldIdLst>
        </p14:section>
        <p14:section name="Au quotidien" id="{74387dc5-d2e4-7a49-c465-b80ae74127c7}">
          <p14:sldIdLst>
            <p14:sldId id="260"/>
            <p14:sldId id="261"/>
            <p14:sldId id="262"/>
            <p14:sldId id="263"/>
            <p14:sldId id="264"/>
          </p14:sldIdLst>
        </p14:section>
        <p14:section name="Claude" id="{a63bbfb9-fdb3-5a33-5b71-347ecbe5d19e}">
          <p14:sldIdLst>
            <p14:sldId id="265"/>
          </p14:sldIdLst>
        </p14:section>
        <p14:section name="Conclusion" id="{2eb7c229-da7a-0d74-b1ff-1df86cc6ee7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Infinity Pipeline remplace le classeur PIPELINE_IAT_V3.xlsx : mêmes données, mêmes calculs, mais à jour pour tout le monde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premier compte est créé par l’administrateur. Les nombres à droite du menu signalent les affaires, les actions en retard et les contrats échus.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recherche est le chemin le plus court vers un client ou un contact : inutile de savoir dans quelle rubrique il se trouve.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est calculé à partir des affaires, comme l’onglet Synthèse du classeur : inutile de mettre à jour des totaux à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créer une affaire : bouton « Nouvelle affaire ». Le numéro est attribué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compte créé ainsi est un prospect ; sa fiche se complète ensuite dans Comptes.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compteur rouge du menu indique le nombre d’actions en retard.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contrat dont la date de facturation manque apparaît « Date à confirmer » : renseignez-la pour que l’échéance soit calculée.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page Contacts donne accès aux 420 contacts de la base clients ; un numéro de téléphone se compose d’un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une modification importante, Claude montre ce qu’il va faire et attend votre accord. Un jeton se révoque à tout moment depuis la même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et accès : contactez l’administrateur de l’application.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Infinity Pipeline · Guide utilisateur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ymbole IAT" descr="Symbole I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103120"/>
            <a:ext cx="4480560" cy="23657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Infinity Pipeline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Guide utilisateur : le pipeline commercial d’IAT en dix minutes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Version du 19 octobre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Infinity Africa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 connecter et se repérer</a:t>
            </a:r>
            <a:endParaRPr lang="en-US" sz="3200" dirty="0"/>
          </a:p>
        </p:txBody>
      </p:sp>
      <p:sp>
        <p:nvSpPr>
          <p:cNvPr id="3" name="Écran de connexion cadre"/>
          <p:cNvSpPr/>
          <p:nvPr/>
        </p:nvSpPr>
        <p:spPr>
          <a:xfrm>
            <a:off x="548640" y="1417320"/>
            <a:ext cx="585216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Écran de connexion" descr="Écran de connex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5705856" cy="35112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371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Ouvrez l’adresse de l’application et connectez-vous. Un lien reçu (de Claude ou d’un collègue) vous ramène à la bonne page après la connexion. Le menu à gauche :</a:t>
            </a:r>
            <a:endParaRPr lang="en-US" sz="1500" dirty="0"/>
          </a:p>
        </p:txBody>
      </p:sp>
      <p:pic>
        <p:nvPicPr>
          <p:cNvPr id="6" name="Icône Vue d’ensemble" descr="Vue d’ensem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146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0" y="24597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Vue d’ensemble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 pipeline en un coup d’œil, ce qui est à traiter</a:t>
            </a:r>
            <a:endParaRPr lang="en-US" sz="1500" dirty="0"/>
          </a:p>
        </p:txBody>
      </p:sp>
      <p:pic>
        <p:nvPicPr>
          <p:cNvPr id="8" name="Icône Affaires" descr="Affai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64408"/>
            <a:ext cx="457200" cy="457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498080" y="32095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Affaires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Les 37 affaires, de M0 à M6</a:t>
            </a:r>
            <a:endParaRPr lang="en-US" sz="1500" dirty="0"/>
          </a:p>
        </p:txBody>
      </p:sp>
      <p:pic>
        <p:nvPicPr>
          <p:cNvPr id="10" name="Icône Plan d’actions" descr="Plan d’ac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014216"/>
            <a:ext cx="457200" cy="4572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498080" y="39593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 d’actions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Les actions décidées, à cocher</a:t>
            </a:r>
            <a:endParaRPr lang="en-US" sz="1500" dirty="0"/>
          </a:p>
        </p:txBody>
      </p:sp>
      <p:pic>
        <p:nvPicPr>
          <p:cNvPr id="12" name="Icône Renouvellements" descr="Renouvellemen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764024"/>
            <a:ext cx="457200" cy="4572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498080" y="4709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Renouvellements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Les contrats récurrents et leurs relances</a:t>
            </a:r>
            <a:endParaRPr lang="en-US" sz="1500" dirty="0"/>
          </a:p>
        </p:txBody>
      </p:sp>
      <p:pic>
        <p:nvPicPr>
          <p:cNvPr id="14" name="Icône Comptes, solutions, contacts" descr="Comptes, solutions, contac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5513832"/>
            <a:ext cx="457200" cy="4572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498080" y="54589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Comptes, solutions, contacts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Fiches clients, prospects, carnet d’adresses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Trouver n’importe quoi avec ⌘K</a:t>
            </a:r>
            <a:endParaRPr lang="en-US" sz="3200" dirty="0"/>
          </a:p>
        </p:txBody>
      </p:sp>
      <p:sp>
        <p:nvSpPr>
          <p:cNvPr id="3" name="Recherche globale cadre"/>
          <p:cNvSpPr/>
          <p:nvPr/>
        </p:nvSpPr>
        <p:spPr>
          <a:xfrm>
            <a:off x="5486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Recherche globale" descr="Recherche glob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6803136" cy="4197096"/>
          </a:xfrm>
          <a:prstGeom prst="rect">
            <a:avLst/>
          </a:prstGeom>
        </p:spPr>
      </p:pic>
      <p:sp>
        <p:nvSpPr>
          <p:cNvPr id="5" name="Étape 1"/>
          <p:cNvSpPr/>
          <p:nvPr/>
        </p:nvSpPr>
        <p:spPr>
          <a:xfrm>
            <a:off x="7955280" y="1508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47218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Ouvrez la recherche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⌘K sur Mac, Ctrl K sur Windows, ou le champ « Rechercher » en haut du menu.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7955280" y="28072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7706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Tapez deux lettres ou plus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Comptes, affaires, contacts et actions s’affichent ensemble, sans accents à respecter.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7955280" y="4105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Ouvrez au clavier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↑ ↓ pour choisir, ↩ pour ouvrir directement la fiche.</a:t>
            </a:r>
            <a:endParaRPr lang="en-US" sz="1700" dirty="0"/>
          </a:p>
        </p:txBody>
      </p:sp>
      <p:sp>
        <p:nvSpPr>
          <p:cNvPr id="14" name="Astuce"/>
          <p:cNvSpPr/>
          <p:nvPr/>
        </p:nvSpPr>
        <p:spPr>
          <a:xfrm>
            <a:off x="7955280" y="5440680"/>
            <a:ext cx="37033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5440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Astuce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Tapez aussi le nom d’une page (« renouvellements », « journal ») pour y aller.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Lire la vue d’ensemble</a:t>
            </a:r>
            <a:endParaRPr lang="en-US" sz="3200" dirty="0"/>
          </a:p>
        </p:txBody>
      </p:sp>
      <p:sp>
        <p:nvSpPr>
          <p:cNvPr id="3" name="Vue d’ensemble cadre"/>
          <p:cNvSpPr/>
          <p:nvPr/>
        </p:nvSpPr>
        <p:spPr>
          <a:xfrm>
            <a:off x="5486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Vue d’ensemble" descr="Vue d’ensem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6803136" cy="4197096"/>
          </a:xfrm>
          <a:prstGeom prst="rect">
            <a:avLst/>
          </a:prstGeom>
        </p:spPr>
      </p:pic>
      <p:sp>
        <p:nvSpPr>
          <p:cNvPr id="5" name="Étape 1"/>
          <p:cNvSpPr/>
          <p:nvPr/>
        </p:nvSpPr>
        <p:spPr>
          <a:xfrm>
            <a:off x="7955280" y="1508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472184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Le ruban du pipeline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Son épaisseur suit le montant engagé à chaque étape, de M0 à M6. Cliquez une étape pour voir ses affaires.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7955280" y="2990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95351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Les chiffres clés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Gagné, offres en signature, commission et reste à encaisser, recalculés à chaque modification.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7955280" y="44714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434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À traiter cette semaine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Contrats échus, actions et échéances des 7 jours. Cochez une action ici même pour la marquer comme faite.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Mettre à jour une affaire</a:t>
            </a:r>
            <a:endParaRPr lang="en-US" sz="3200" dirty="0"/>
          </a:p>
        </p:txBody>
      </p:sp>
      <p:sp>
        <p:nvSpPr>
          <p:cNvPr id="3" name="Fiche d’une affaire cadre"/>
          <p:cNvSpPr/>
          <p:nvPr/>
        </p:nvSpPr>
        <p:spPr>
          <a:xfrm>
            <a:off x="46634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Fiche d’une affaire" descr="Fiche d’une aff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490472"/>
            <a:ext cx="6803136" cy="4197096"/>
          </a:xfrm>
          <a:prstGeom prst="rect">
            <a:avLst/>
          </a:prstGeom>
        </p:spPr>
      </p:pic>
      <p:sp>
        <p:nvSpPr>
          <p:cNvPr id="5" name="Étape 1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472184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Ouvrez l’affaire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 ⌘K, ou dans Affaires : cliquez sa ligne. Les colonnes se trient d’un clic.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548640" y="28072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77063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Modifiez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Étape, probabilité, montant, prochaine étape. « Gagné » met la probabilité à 100 %.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548640" y="4105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069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Enregistrez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Bouton Enregistrer ou ⌘↩. Si vous fermez sans enregistrer, l’application vous le demande.</a:t>
            </a:r>
            <a:endParaRPr lang="en-US" sz="1700" dirty="0"/>
          </a:p>
        </p:txBody>
      </p:sp>
      <p:sp>
        <p:nvSpPr>
          <p:cNvPr id="14" name="Astuce"/>
          <p:cNvSpPr/>
          <p:nvPr/>
        </p:nvSpPr>
        <p:spPr>
          <a:xfrm>
            <a:off x="548640" y="5440680"/>
            <a:ext cx="37490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5440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Astuce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Affichage « Étapes » : glissez une carte d’une colonne à l’autre pour changer l’étape.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Ajouter une affaire ou un prospect</a:t>
            </a:r>
            <a:endParaRPr lang="en-US" sz="3200" dirty="0"/>
          </a:p>
        </p:txBody>
      </p:sp>
      <p:sp>
        <p:nvSpPr>
          <p:cNvPr id="3" name="Nouvelle affaire cadre"/>
          <p:cNvSpPr/>
          <p:nvPr/>
        </p:nvSpPr>
        <p:spPr>
          <a:xfrm>
            <a:off x="5486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Nouvelle affaire" descr="Nouvelle aff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6803136" cy="4197096"/>
          </a:xfrm>
          <a:prstGeom prst="rect">
            <a:avLst/>
          </a:prstGeom>
        </p:spPr>
      </p:pic>
      <p:sp>
        <p:nvSpPr>
          <p:cNvPr id="5" name="Étape 1"/>
          <p:cNvSpPr/>
          <p:nvPr/>
        </p:nvSpPr>
        <p:spPr>
          <a:xfrm>
            <a:off x="7955280" y="1508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47218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Nouvelle affaire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Bouton en haut à droite de la page Affaires.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7955280" y="28072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7706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Nature et compte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Les champs marqués « obligatoire » suffisent ; le reste peut attendre.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7955280" y="4105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Nouveau prospect ?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Dans la liste des comptes, choisissez « + Nouveau compte », tapez son nom, Créer.</a:t>
            </a:r>
            <a:endParaRPr lang="en-US" sz="1700" dirty="0"/>
          </a:p>
        </p:txBody>
      </p:sp>
      <p:sp>
        <p:nvSpPr>
          <p:cNvPr id="14" name="Astuce"/>
          <p:cNvSpPr/>
          <p:nvPr/>
        </p:nvSpPr>
        <p:spPr>
          <a:xfrm>
            <a:off x="7955280" y="5349240"/>
            <a:ext cx="370332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53492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Astuce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bouton Créer s’active dès que l’essentiel est rempli ; le numéro est attribué automatiquement.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Faire avancer le plan d’actions</a:t>
            </a:r>
            <a:endParaRPr lang="en-US" sz="3200" dirty="0"/>
          </a:p>
        </p:txBody>
      </p:sp>
      <p:sp>
        <p:nvSpPr>
          <p:cNvPr id="3" name="Plan d’actions cadre"/>
          <p:cNvSpPr/>
          <p:nvPr/>
        </p:nvSpPr>
        <p:spPr>
          <a:xfrm>
            <a:off x="5486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Plan d’actions" descr="Plan d’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6803136" cy="4197096"/>
          </a:xfrm>
          <a:prstGeom prst="rect">
            <a:avLst/>
          </a:prstGeom>
        </p:spPr>
      </p:pic>
      <p:sp>
        <p:nvSpPr>
          <p:cNvPr id="5" name="Étape 1"/>
          <p:cNvSpPr/>
          <p:nvPr/>
        </p:nvSpPr>
        <p:spPr>
          <a:xfrm>
            <a:off x="7955280" y="1508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47218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Ajoutez en une ligne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Tapez l’action, puis son échéance et sa priorité, et Entrée. Elle s’affiche en tête.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7955280" y="28072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7706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Cochez le rond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L’action passe en « Fait ». Une erreur ? « Annuler » dans le message qui s’affiche.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7955280" y="4105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Complétez si besoin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Cliquez l’action pour le responsable, le compte ou un commentaire.</a:t>
            </a:r>
            <a:endParaRPr lang="en-US" sz="1700" dirty="0"/>
          </a:p>
        </p:txBody>
      </p:sp>
      <p:sp>
        <p:nvSpPr>
          <p:cNvPr id="14" name="Astuce"/>
          <p:cNvSpPr/>
          <p:nvPr/>
        </p:nvSpPr>
        <p:spPr>
          <a:xfrm>
            <a:off x="7955280" y="5440680"/>
            <a:ext cx="370332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5440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Astuce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actions en retard apparaissent en rouge, en tête de liste.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 rater aucun renouvellement</a:t>
            </a:r>
            <a:endParaRPr lang="en-US" sz="3200" dirty="0"/>
          </a:p>
        </p:txBody>
      </p:sp>
      <p:sp>
        <p:nvSpPr>
          <p:cNvPr id="3" name="Fiche d’un contrat cadre"/>
          <p:cNvSpPr/>
          <p:nvPr/>
        </p:nvSpPr>
        <p:spPr>
          <a:xfrm>
            <a:off x="46634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Fiche d’un contrat" descr="Fiche d’un contr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490472"/>
            <a:ext cx="6803136" cy="41970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L’échéance est calculée : dernière facturation + 12 mois. La bande marque la fenêtre de relance, de J-90 à l’échéance ; le trait, J-30.</a:t>
            </a:r>
            <a:endParaRPr lang="en-US" sz="1500" dirty="0"/>
          </a:p>
        </p:txBody>
      </p:sp>
      <p:sp>
        <p:nvSpPr>
          <p:cNvPr id="6" name="Pastille Échu"/>
          <p:cNvSpPr/>
          <p:nvPr/>
        </p:nvSpPr>
        <p:spPr>
          <a:xfrm>
            <a:off x="548640" y="2935224"/>
            <a:ext cx="274320" cy="274320"/>
          </a:xfrm>
          <a:prstGeom prst="ellipse">
            <a:avLst/>
          </a:prstGeom>
          <a:solidFill>
            <a:srgbClr val="C42E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28437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Échu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Relancer tout de suite</a:t>
            </a:r>
            <a:endParaRPr lang="en-US" sz="1500" dirty="0"/>
          </a:p>
        </p:txBody>
      </p:sp>
      <p:sp>
        <p:nvSpPr>
          <p:cNvPr id="8" name="Pastille À relancer"/>
          <p:cNvSpPr/>
          <p:nvPr/>
        </p:nvSpPr>
        <p:spPr>
          <a:xfrm>
            <a:off x="548640" y="3712464"/>
            <a:ext cx="274320" cy="274320"/>
          </a:xfrm>
          <a:prstGeom prst="ellipse">
            <a:avLst/>
          </a:prstGeom>
          <a:solidFill>
            <a:srgbClr val="B98A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36210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relancer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Moins de 90 jours avant l’échéance</a:t>
            </a:r>
            <a:endParaRPr lang="en-US" sz="1500" dirty="0"/>
          </a:p>
        </p:txBody>
      </p:sp>
      <p:sp>
        <p:nvSpPr>
          <p:cNvPr id="10" name="Pastille À venir"/>
          <p:cNvSpPr/>
          <p:nvPr/>
        </p:nvSpPr>
        <p:spPr>
          <a:xfrm>
            <a:off x="548640" y="4489704"/>
            <a:ext cx="274320" cy="274320"/>
          </a:xfrm>
          <a:prstGeom prst="ellipse">
            <a:avLst/>
          </a:prstGeom>
          <a:solidFill>
            <a:srgbClr val="0D68B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43982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venir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Rien à faire pour l’instant</a:t>
            </a:r>
            <a:endParaRPr lang="en-US" sz="1500" dirty="0"/>
          </a:p>
        </p:txBody>
      </p:sp>
      <p:sp>
        <p:nvSpPr>
          <p:cNvPr id="12" name="Astuce"/>
          <p:cNvSpPr/>
          <p:nvPr/>
        </p:nvSpPr>
        <p:spPr>
          <a:xfrm>
            <a:off x="548640" y="5349240"/>
            <a:ext cx="374904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5349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Astuce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Après une relance, ouvrez le contrat et cliquez « Relancé aujourd’hui ». Mettez le statut à jour si besoin.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Tout savoir d’un client</a:t>
            </a:r>
            <a:endParaRPr lang="en-US" sz="3200" dirty="0"/>
          </a:p>
        </p:txBody>
      </p:sp>
      <p:sp>
        <p:nvSpPr>
          <p:cNvPr id="3" name="Fiche du compte CNAM cadre"/>
          <p:cNvSpPr/>
          <p:nvPr/>
        </p:nvSpPr>
        <p:spPr>
          <a:xfrm>
            <a:off x="548640" y="1417320"/>
            <a:ext cx="694944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47">
                <a:alpha val="16000"/>
              </a:srgbClr>
            </a:outerShdw>
          </a:effectLst>
        </p:spPr>
      </p:sp>
      <p:pic>
        <p:nvPicPr>
          <p:cNvPr id="4" name="Fiche du compte CNAM" descr="Fiche du compte CN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0472"/>
            <a:ext cx="6803136" cy="41970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0" y="14173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Comptes, puis le nom du client. La fiche réunit sur une seule page :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14884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Interlocuteurs, état de santé et satisfaction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Facturé, encaissé et reste à encaisser par exercice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Affaires en cours et renouvellements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Pistes de vente croisée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Contacts et dirigeants</a:t>
            </a:r>
            <a:endParaRPr lang="en-US" sz="1500" dirty="0"/>
          </a:p>
        </p:txBody>
      </p:sp>
      <p:sp>
        <p:nvSpPr>
          <p:cNvPr id="7" name="Astuce"/>
          <p:cNvSpPr/>
          <p:nvPr/>
        </p:nvSpPr>
        <p:spPr>
          <a:xfrm>
            <a:off x="7955280" y="5074920"/>
            <a:ext cx="370332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38160" y="50749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Astuce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 Modifier la fiche » met à jour les informations ; « Ajouter » crée une affaire, une facture ou un contact déjà rattaché au client.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Travailler avec Claude</a:t>
            </a:r>
            <a:endParaRPr lang="en-US" sz="3200" dirty="0"/>
          </a:p>
        </p:txBody>
      </p:sp>
      <p:sp>
        <p:nvSpPr>
          <p:cNvPr id="3" name="Étape 1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72184"/>
            <a:ext cx="4526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Générez votre jeton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Réglages, puis Connecter Claude. Choisissez une durée, cliquez « Générer un jeton ».</a:t>
            </a:r>
            <a:endParaRPr lang="en-US" sz="1700" dirty="0"/>
          </a:p>
        </p:txBody>
      </p:sp>
      <p:sp>
        <p:nvSpPr>
          <p:cNvPr id="6" name="Étape 2"/>
          <p:cNvSpPr/>
          <p:nvPr/>
        </p:nvSpPr>
        <p:spPr>
          <a:xfrm>
            <a:off x="548640" y="28346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98064"/>
            <a:ext cx="4526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Copiez la configuration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Collez le bloc proposé dans Claude Desktop, puis quittez et rouvrez Claude.</a:t>
            </a:r>
            <a:endParaRPr lang="en-US" sz="1700" dirty="0"/>
          </a:p>
        </p:txBody>
      </p:sp>
      <p:sp>
        <p:nvSpPr>
          <p:cNvPr id="9" name="Étape 3"/>
          <p:cNvSpPr/>
          <p:nvPr/>
        </p:nvSpPr>
        <p:spPr>
          <a:xfrm>
            <a:off x="548640" y="4160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123944"/>
            <a:ext cx="4526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Demandez en français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Claude lit et met à jour le pipeline avec vos droits. Ses modifications sont signalées « via Claude ».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 connecteur est installé par l’équipe technique. Le jeton vaut un mot de passe : ne le partagez pas.</a:t>
            </a:r>
            <a:endParaRPr lang="en-US" sz="1300" dirty="0"/>
          </a:p>
        </p:txBody>
      </p:sp>
      <p:pic>
        <p:nvPicPr>
          <p:cNvPr id="13" name="Icône Claude" descr="Cla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408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Exemples de demandes</a:t>
            </a:r>
            <a:endParaRPr lang="en-US" sz="1800" dirty="0"/>
          </a:p>
        </p:txBody>
      </p:sp>
      <p:sp>
        <p:nvSpPr>
          <p:cNvPr id="15" name="Demande 1"/>
          <p:cNvSpPr/>
          <p:nvPr/>
        </p:nvSpPr>
        <p:spPr>
          <a:xfrm>
            <a:off x="6400800" y="2240280"/>
            <a:ext cx="52120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A47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629400" y="2240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« Fais-moi le point sur la CNPS. »</a:t>
            </a:r>
            <a:endParaRPr lang="en-US" sz="1600" dirty="0"/>
          </a:p>
        </p:txBody>
      </p:sp>
      <p:sp>
        <p:nvSpPr>
          <p:cNvPr id="17" name="Demande 2"/>
          <p:cNvSpPr/>
          <p:nvPr/>
        </p:nvSpPr>
        <p:spPr>
          <a:xfrm>
            <a:off x="6400800" y="3429000"/>
            <a:ext cx="52120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A47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629400" y="3429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« Passe l’affaire 8 en signature, closing 70 %. »</a:t>
            </a:r>
            <a:endParaRPr lang="en-US" sz="1600" dirty="0"/>
          </a:p>
        </p:txBody>
      </p:sp>
      <p:sp>
        <p:nvSpPr>
          <p:cNvPr id="19" name="Demande 3"/>
          <p:cNvSpPr/>
          <p:nvPr/>
        </p:nvSpPr>
        <p:spPr>
          <a:xfrm>
            <a:off x="6400800" y="4617720"/>
            <a:ext cx="52120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A47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629400" y="4617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« Voici le compte rendu de réunion : crée une action par décision. 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Trois réflexes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Un pipeline utile est un pipeline à jour</a:t>
            </a:r>
            <a:endParaRPr lang="en-US" sz="2200" dirty="0"/>
          </a:p>
        </p:txBody>
      </p:sp>
      <p:pic>
        <p:nvPicPr>
          <p:cNvPr id="4" name="Icône Après chaque échange client" descr="Après chaque échange cl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4173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371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Après chaque échange client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Mettez à jour l’étape et la prochaine étape de l’affaire.</a:t>
            </a:r>
            <a:endParaRPr lang="en-US" sz="1800" dirty="0"/>
          </a:p>
        </p:txBody>
      </p:sp>
      <p:pic>
        <p:nvPicPr>
          <p:cNvPr id="6" name="Icône Chaque jour" descr="Chaque jo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80360"/>
            <a:ext cx="566928" cy="5669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49640" y="28346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Chaque jour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Cochez les actions faites depuis la vue d’ensemble, ajoutez les nouvelles.</a:t>
            </a:r>
            <a:endParaRPr lang="en-US" sz="1800" dirty="0"/>
          </a:p>
        </p:txBody>
      </p:sp>
      <p:pic>
        <p:nvPicPr>
          <p:cNvPr id="8" name="Icône Chaque lundi" descr="Chaque lund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34340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49640" y="42976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Chaque lundi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Ouvrez la vue d’ensemble et traitez « À traiter cette semaine ».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T Infinity Pipeline">
  <a:themeElements>
    <a:clrScheme name="IAT Infinity Pipeline">
      <a:dk1>
        <a:srgbClr val="16202C"/>
      </a:dk1>
      <a:lt1>
        <a:srgbClr val="FFFFFF"/>
      </a:lt1>
      <a:dk2>
        <a:srgbClr val="0B2A47"/>
      </a:dk2>
      <a:lt2>
        <a:srgbClr val="F1F3F6"/>
      </a:lt2>
      <a:accent1>
        <a:srgbClr val="0D68B2"/>
      </a:accent1>
      <a:accent2>
        <a:srgbClr val="3B9E36"/>
      </a:accent2>
      <a:accent3>
        <a:srgbClr val="B98A00"/>
      </a:accent3>
      <a:accent4>
        <a:srgbClr val="C42E2A"/>
      </a:accent4>
      <a:accent5>
        <a:srgbClr val="7A8494"/>
      </a:accent5>
      <a:accent6>
        <a:srgbClr val="8DB8DE"/>
      </a:accent6>
      <a:hlink>
        <a:srgbClr val="0D68B2"/>
      </a:hlink>
      <a:folHlink>
        <a:srgbClr val="0B5A9B"/>
      </a:folHlink>
    </a:clrScheme>
    <a:fontScheme name="IAT Infinity Pipeli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Infinity Africa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Infinity Pipeline — Guide utilisateur</dc:title>
  <dc:subject>PptxGenJS Presentation</dc:subject>
  <dc:creator>IAT — Infinity Africa Technologies</dc:creator>
  <cp:lastModifiedBy>IAT — Infinity Africa Technologies</cp:lastModifiedBy>
  <cp:revision>1</cp:revision>
  <dcterms:created xsi:type="dcterms:W3CDTF">2026-10-19T16:46:42Z</dcterms:created>
  <dcterms:modified xsi:type="dcterms:W3CDTF">2026-10-19T16:46:42Z</dcterms:modified>
</cp:coreProperties>
</file>